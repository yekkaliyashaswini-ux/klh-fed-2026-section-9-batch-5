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1365" cy="6858000"/>
  <p:notesSz cx="6858000" cy="12191365"/>
  <p:embeddedFontLst>
    <p:embeddedFont>
      <p:font typeface="IBM Plex Mono SemiBold" panose="020B0709050203000203" pitchFamily="34" charset="0"/>
      <p:bold r:id="rId13"/>
    </p:embeddedFont>
    <p:embeddedFont>
      <p:font typeface="IBM Plex Mono SemiBold" panose="020B0709050203000203" pitchFamily="34" charset="-122"/>
      <p:bold r:id="rId14"/>
    </p:embeddedFont>
    <p:embeddedFont>
      <p:font typeface="IBM Plex Mono SemiBold" panose="020B0709050203000203" pitchFamily="34" charset="-120"/>
      <p:bold r:id="rId15"/>
    </p:embeddedFont>
    <p:embeddedFont>
      <p:font typeface="Barlow Condensed Bold" panose="00000806000000000000" pitchFamily="34" charset="0"/>
      <p:bold r:id="rId16"/>
    </p:embeddedFont>
    <p:embeddedFont>
      <p:font typeface="Barlow Condensed Bold" panose="00000806000000000000" pitchFamily="34" charset="-122"/>
      <p:bold r:id="rId17"/>
    </p:embeddedFont>
    <p:embeddedFont>
      <p:font typeface="Barlow Condensed Bold" panose="00000806000000000000" pitchFamily="34" charset="-120"/>
      <p:bold r:id="rId18"/>
    </p:embeddedFont>
    <p:embeddedFont>
      <p:font typeface="Source Sans 3" panose="020B0303030403020204" pitchFamily="34" charset="0"/>
      <p:regular r:id="rId19"/>
    </p:embeddedFont>
    <p:embeddedFont>
      <p:font typeface="Source Sans 3" panose="020B0303030403020204" pitchFamily="34" charset="-122"/>
      <p:regular r:id="rId20"/>
    </p:embeddedFont>
    <p:embeddedFont>
      <p:font typeface="Source Sans 3" panose="020B0303030403020204" pitchFamily="34" charset="-120"/>
      <p:regular r:id="rId21"/>
    </p:embeddedFont>
    <p:embeddedFont>
      <p:font typeface="IBM Plex Mono Medium" panose="020B0609050203000203" pitchFamily="34" charset="0"/>
      <p:regular r:id="rId22"/>
    </p:embeddedFont>
    <p:embeddedFont>
      <p:font typeface="IBM Plex Mono Medium" panose="020B0609050203000203" pitchFamily="34" charset="-122"/>
      <p:regular r:id="rId23"/>
    </p:embeddedFont>
    <p:embeddedFont>
      <p:font typeface="IBM Plex Mono Medium" panose="020B0609050203000203" pitchFamily="34" charset="-120"/>
      <p:regular r:id="rId24"/>
    </p:embeddedFont>
    <p:embeddedFont>
      <p:font typeface="Source Sans 3 Bold" panose="020B0303030403020204" pitchFamily="34" charset="0"/>
      <p:bold r:id="rId25"/>
    </p:embeddedFont>
    <p:embeddedFont>
      <p:font typeface="Source Sans 3 Bold" panose="020B0303030403020204" pitchFamily="34" charset="-122"/>
      <p:bold r:id="rId26"/>
    </p:embeddedFont>
    <p:embeddedFont>
      <p:font typeface="Source Sans 3 Bold" panose="020B0303030403020204" pitchFamily="34" charset="-120"/>
      <p:bold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19.fntdata"/><Relationship Id="rId30" Type="http://schemas.openxmlformats.org/officeDocument/2006/relationships/font" Target="fonts/font18.fntdata"/><Relationship Id="rId3" Type="http://schemas.openxmlformats.org/officeDocument/2006/relationships/slide" Target="slides/slide1.xml"/><Relationship Id="rId29" Type="http://schemas.openxmlformats.org/officeDocument/2006/relationships/font" Target="fonts/font17.fntdata"/><Relationship Id="rId28" Type="http://schemas.openxmlformats.org/officeDocument/2006/relationships/font" Target="fonts/font16.fntdata"/><Relationship Id="rId27" Type="http://schemas.openxmlformats.org/officeDocument/2006/relationships/font" Target="fonts/font15.fntdata"/><Relationship Id="rId26" Type="http://schemas.openxmlformats.org/officeDocument/2006/relationships/font" Target="fonts/font14.fntdata"/><Relationship Id="rId25" Type="http://schemas.openxmlformats.org/officeDocument/2006/relationships/font" Target="fonts/font13.fntdata"/><Relationship Id="rId24" Type="http://schemas.openxmlformats.org/officeDocument/2006/relationships/font" Target="fonts/font12.fntdata"/><Relationship Id="rId23" Type="http://schemas.openxmlformats.org/officeDocument/2006/relationships/font" Target="fonts/font11.fntdata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working demonstration of how parity detects errors in digital data. The team will show the logic, the checker, and a live bit-flip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digital data can be corrupted in transit. The project adds one parity bit and checks it at the receiver, so a single-bit error becomes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parity bit is one extra bit added to binary data. With even parity, data 1011 has three 1s, so P = 1 and the codeword is 10111. Odd parity uses the opposite rule. XOR builds the parity and checks it; NOT provides the complementary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Figure A from the input pins through the XOR cascade to parity output P. Then show Figure B: the checker repeats the XOR over all received bits and shows VALID or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table: 0000 gives P0, 0001 gives P1, 0011 gives P0, 0111 gives P1, and 1111 gives P0. When one transmitted bit is flipped, the checker output becomes 1 and shows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outcome: parity detects single-bit errors with low cost. Name the applications in communication and digital data transmission. Be clear about the limits, and point to stronger error-detecting and error-correcting codes as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87" y="660400"/>
            <a:ext cx="5562461" cy="53848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3" name="Text 1"/>
          <p:cNvSpPr/>
          <p:nvPr/>
        </p:nvSpPr>
        <p:spPr>
          <a:xfrm>
            <a:off x="939776" y="1050131"/>
            <a:ext cx="5359266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PROJECT EXPO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76" y="1358900"/>
            <a:ext cx="4749681" cy="1905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kern="100" spc="-100" dirty="0">
                <a:solidFill>
                  <a:srgbClr val="000000"/>
                </a:solidFill>
                <a:latin typeface="Barlow Condensed Bold" panose="00000806000000000000" pitchFamily="34" charset="0"/>
                <a:ea typeface="Barlow Condensed Bold" panose="00000806000000000000" pitchFamily="34" charset="-122"/>
                <a:cs typeface="Barlow Condensed Bold" panose="00000806000000000000" pitchFamily="34" charset="-120"/>
              </a:rPr>
              <a:t>Digital Error Detection System Using Parity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76" y="3378200"/>
            <a:ext cx="474968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 first-year digital logic demonstration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9776" y="3859113"/>
            <a:ext cx="5359266" cy="166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B.Tech 1st Year · [Section</a:t>
            </a:r>
            <a:r>
              <a:rPr lang="en-IN" alt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-9</a:t>
            </a: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39776" y="4246860"/>
            <a:ext cx="1567220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</p:spPr>
      </p:sp>
      <p:sp>
        <p:nvSpPr>
          <p:cNvPr id="8" name="Text 6"/>
          <p:cNvSpPr/>
          <p:nvPr/>
        </p:nvSpPr>
        <p:spPr>
          <a:xfrm>
            <a:off x="939776" y="4511576"/>
            <a:ext cx="4749681" cy="6667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Guna — 2620030324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Yashaswini — 2620030276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Srija — 2620030323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Akshita — 2620030329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INTRODUCTION AND OBJECTIVE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02 · OVERVIEW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</p:spPr>
      </p:sp>
      <p:sp>
        <p:nvSpPr>
          <p:cNvPr id="5" name="Text 3"/>
          <p:cNvSpPr/>
          <p:nvPr/>
        </p:nvSpPr>
        <p:spPr>
          <a:xfrm>
            <a:off x="406390" y="1010920"/>
            <a:ext cx="6603835" cy="1036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anose="00000806000000000000" pitchFamily="34" charset="0"/>
                <a:ea typeface="Barlow Condensed Bold" panose="00000806000000000000" pitchFamily="34" charset="-122"/>
                <a:cs typeface="Barlow Condensed Bold" panose="00000806000000000000" pitchFamily="34" charset="-120"/>
              </a:rPr>
              <a:t>Why binary data needs error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2198291"/>
            <a:ext cx="6603835" cy="8289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Digital systems move data as strings of 0s and 1s across wires and networks. A single flipped bit can change a value with no visible sign, so the receiver needs a fast way to notice damage.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6390" y="3205063"/>
            <a:ext cx="3073323" cy="346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Introduction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06390" y="3694609"/>
            <a:ext cx="3073323" cy="11052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This project builds a small digital circuit that adds one parity bit to each data word and checks it at the receiver.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6902" y="3205063"/>
            <a:ext cx="3073323" cy="346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Objective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936902" y="3694609"/>
            <a:ext cx="3073323" cy="11052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Design, simulate and demonstrate a parity-based system that detects single-bit errors in transmitted binary data.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812800"/>
            <a:ext cx="4876678" cy="6045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01957" y="3205063"/>
            <a:ext cx="12700" cy="1594842"/>
          </a:xfrm>
          <a:prstGeom prst="rect">
            <a:avLst/>
          </a:prstGeom>
          <a:solidFill>
            <a:srgbClr val="AEB8C2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THEORY AND LOGIC CIRCUIT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03 · PARITY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812800"/>
            <a:ext cx="11378915" cy="17067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6390" y="2717681"/>
            <a:ext cx="11378915" cy="518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anose="00000806000000000000" pitchFamily="34" charset="0"/>
                <a:ea typeface="Barlow Condensed Bold" panose="00000806000000000000" pitchFamily="34" charset="-122"/>
                <a:cs typeface="Barlow Condensed Bold" panose="00000806000000000000" pitchFamily="34" charset="-120"/>
              </a:rPr>
              <a:t>Theory and logic circuit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06390" y="3386931"/>
            <a:ext cx="11785305" cy="276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 parity bit is one extra bit added to binary data so the number of 1s follows a fixed rule.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6390" y="4027587"/>
            <a:ext cx="5689458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EVEN PARITY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6390" y="4307780"/>
            <a:ext cx="5435464" cy="5526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Total 1s must be even. Data 1011 has three 1s, so </a:t>
            </a:r>
            <a:r>
              <a:rPr lang="en-US" sz="1600" b="1" dirty="0">
                <a:solidFill>
                  <a:srgbClr val="171C24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P = 1</a:t>
            </a: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; codeword 10111.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49841" y="4027587"/>
            <a:ext cx="5435464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ODD PARITY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49841" y="4307780"/>
            <a:ext cx="5435464" cy="276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Total 1s must be odd. Data 1011 gives </a:t>
            </a:r>
            <a:r>
              <a:rPr lang="en-US" sz="1600" b="1" dirty="0">
                <a:solidFill>
                  <a:srgbClr val="171C24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P = 0</a:t>
            </a: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; codeword 10110.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6390" y="5343029"/>
            <a:ext cx="5435464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XOR gate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06390" y="5783064"/>
            <a:ext cx="5435464" cy="5526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Outputs 1 when its inputs differ. Builds the parity bit and the checker.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49841" y="5343029"/>
            <a:ext cx="5435464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NOT gate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49841" y="5783064"/>
            <a:ext cx="5435464" cy="276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Flips a bit: 0 becomes 1 and 1 becomes 0.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6390" y="6519466"/>
            <a:ext cx="11785305" cy="166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Logic circuit: data bits feed an XOR cascade that produces P; the checker XORs all received bits with P.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89498" y="3841055"/>
            <a:ext cx="12700" cy="1171773"/>
          </a:xfrm>
          <a:prstGeom prst="rect">
            <a:avLst/>
          </a:prstGeom>
          <a:solidFill>
            <a:srgbClr val="AEB8C2"/>
          </a:solidFill>
        </p:spPr>
      </p:sp>
      <p:sp>
        <p:nvSpPr>
          <p:cNvPr id="19" name="Shape 16"/>
          <p:cNvSpPr/>
          <p:nvPr/>
        </p:nvSpPr>
        <p:spPr>
          <a:xfrm>
            <a:off x="6089498" y="5190629"/>
            <a:ext cx="12700" cy="1145084"/>
          </a:xfrm>
          <a:prstGeom prst="rect">
            <a:avLst/>
          </a:prstGeom>
          <a:solidFill>
            <a:srgbClr val="AEB8C2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CIRCUIT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04 · LOGISIM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anose="00000806000000000000" pitchFamily="34" charset="0"/>
                <a:ea typeface="Barlow Condensed Bold" panose="00000806000000000000" pitchFamily="34" charset="-122"/>
                <a:cs typeface="Barlow Condensed Bold" panose="00000806000000000000" pitchFamily="34" charset="-120"/>
              </a:rPr>
              <a:t>Circuit design in Logisim</a:t>
            </a:r>
            <a:endParaRPr lang="en-US" sz="4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84" y="1908770"/>
            <a:ext cx="5003675" cy="15351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4984" y="3529211"/>
            <a:ext cx="5003675" cy="3333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Figure A · Parity generator: XOR cascade of data bits produces parity P.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1908770"/>
            <a:ext cx="5003675" cy="15351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3036" y="3529211"/>
            <a:ext cx="5003675" cy="3333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Figure B · Parity checker: XOR of data bits and received P. 0 = VALID, 1 = ERROR.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06390" y="4263033"/>
            <a:ext cx="5460863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Input pins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06390" y="4703068"/>
            <a:ext cx="5460863" cy="5526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Data bits A–D enter the circuit; the transmitted parity bit enters the checker.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24442" y="4263033"/>
            <a:ext cx="5460863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XOR cascade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24442" y="4703068"/>
            <a:ext cx="5460863" cy="276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Gates combine the bits one stage at a time into a single signal.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06390" y="5712916"/>
            <a:ext cx="5460863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Parity output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06390" y="6152952"/>
            <a:ext cx="5460863" cy="5526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The generator output P is appended to the data to form the codeword.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324442" y="5712916"/>
            <a:ext cx="5460863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Checker output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324442" y="6152952"/>
            <a:ext cx="5460863" cy="276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0 shows VALID; 1 shows ERROR on the indicator.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89498" y="4263033"/>
            <a:ext cx="12700" cy="1221284"/>
          </a:xfrm>
          <a:prstGeom prst="rect">
            <a:avLst/>
          </a:prstGeom>
          <a:solidFill>
            <a:srgbClr val="AEB8C2"/>
          </a:solidFill>
        </p:spPr>
      </p:sp>
      <p:sp>
        <p:nvSpPr>
          <p:cNvPr id="20" name="Shape 16"/>
          <p:cNvSpPr/>
          <p:nvPr/>
        </p:nvSpPr>
        <p:spPr>
          <a:xfrm>
            <a:off x="406390" y="5477966"/>
            <a:ext cx="5689458" cy="12700"/>
          </a:xfrm>
          <a:prstGeom prst="rect">
            <a:avLst/>
          </a:prstGeom>
          <a:solidFill>
            <a:srgbClr val="AEB8C2"/>
          </a:solidFill>
        </p:spPr>
      </p:sp>
      <p:sp>
        <p:nvSpPr>
          <p:cNvPr id="21" name="Shape 17"/>
          <p:cNvSpPr/>
          <p:nvPr/>
        </p:nvSpPr>
        <p:spPr>
          <a:xfrm>
            <a:off x="6089498" y="5484316"/>
            <a:ext cx="12700" cy="1221284"/>
          </a:xfrm>
          <a:prstGeom prst="rect">
            <a:avLst/>
          </a:prstGeom>
          <a:solidFill>
            <a:srgbClr val="AEB8C2"/>
          </a:solidFill>
        </p:spPr>
      </p:sp>
      <p:sp>
        <p:nvSpPr>
          <p:cNvPr id="22" name="Shape 18"/>
          <p:cNvSpPr/>
          <p:nvPr/>
        </p:nvSpPr>
        <p:spPr>
          <a:xfrm>
            <a:off x="6095848" y="5477966"/>
            <a:ext cx="5689458" cy="12700"/>
          </a:xfrm>
          <a:prstGeom prst="rect">
            <a:avLst/>
          </a:prstGeom>
          <a:solidFill>
            <a:srgbClr val="AEB8C2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SIMULATION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05 · TRUTH TABLE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anose="00000806000000000000" pitchFamily="34" charset="0"/>
                <a:ea typeface="Barlow Condensed Bold" panose="00000806000000000000" pitchFamily="34" charset="-122"/>
                <a:cs typeface="Barlow Condensed Bold" panose="00000806000000000000" pitchFamily="34" charset="-120"/>
              </a:rPr>
              <a:t>Simulation results</a:t>
            </a:r>
            <a:endParaRPr lang="en-US" sz="4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06390" y="1908770"/>
          <a:ext cx="5824888" cy="3148032"/>
        </p:xfrm>
        <a:graphic>
          <a:graphicData uri="http://schemas.openxmlformats.org/drawingml/2006/table">
            <a:tbl>
              <a:tblPr/>
              <a:tblGrid>
                <a:gridCol w="1941596"/>
                <a:gridCol w="1941596"/>
                <a:gridCol w="1941696"/>
              </a:tblGrid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Data A–D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7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Parity P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7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Checker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7D6"/>
                    </a:solidFill>
                  </a:tcPr>
                </a:tc>
              </a:tr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0000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0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VALID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0001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1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VALID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0011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0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VALID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0111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1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VALID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1111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0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VALID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0011 + flipped P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1 received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anose="020B0303030403020204" pitchFamily="34" charset="0"/>
                          <a:ea typeface="Source Sans 3" panose="020B0303030403020204" pitchFamily="34" charset="-122"/>
                          <a:cs typeface="Source Sans 3" panose="020B0303030403020204" pitchFamily="34" charset="-120"/>
                        </a:rPr>
                        <a:t>ERROR</a:t>
                      </a:r>
                      <a:endParaRPr lang="en-US" sz="1600" dirty="0">
                        <a:latin typeface="Source Sans 3" panose="020B0303030403020204" pitchFamily="34" charset="0"/>
                        <a:ea typeface="Source Sans 3" panose="020B0303030403020204" pitchFamily="34" charset="0"/>
                        <a:cs typeface="Source Sans 3" panose="020B0303030403020204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06390" y="5202535"/>
            <a:ext cx="5824888" cy="166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Error case: one transmitted bit flipped, so the checker output is 1.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6961" y="1908770"/>
            <a:ext cx="4639750" cy="42967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16961" y="6290866"/>
            <a:ext cx="4868344" cy="166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Checker simulation: output 0 = VALID, output 1 = ERROR.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06 · APPLICATIONS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anose="00000806000000000000" pitchFamily="34" charset="0"/>
                <a:ea typeface="Barlow Condensed Bold" panose="00000806000000000000" pitchFamily="34" charset="-122"/>
                <a:cs typeface="Barlow Condensed Bold" panose="00000806000000000000" pitchFamily="34" charset="-120"/>
              </a:rPr>
              <a:t>Conclusion and applications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1908770"/>
            <a:ext cx="3320967" cy="346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Outcome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06390" y="2398316"/>
            <a:ext cx="3320967" cy="8289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The parity generator and checker detect every single-bit error in the demonstrated cases.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84545" y="1908770"/>
            <a:ext cx="3320967" cy="346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Applications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184545" y="2398316"/>
            <a:ext cx="3320967" cy="8289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Communication systems and digital data transmission, where cheap error checks protect data.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6390" y="3684488"/>
            <a:ext cx="3320967" cy="346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Limitations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06390" y="4174034"/>
            <a:ext cx="3320967" cy="8289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Parity detects but cannot correct the wrong bit, and misses some multi-bit errors.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84545" y="3684488"/>
            <a:ext cx="3320967" cy="346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Future improvements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184545" y="4174034"/>
            <a:ext cx="3320967" cy="8289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Stronger error-detecting codes such as CRC, and error-correcting codes such as Hamming.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390" y="5123259"/>
            <a:ext cx="7099122" cy="166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Team: Guna • Yashaswini • Srija • Akshita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6390" y="5525294"/>
            <a:ext cx="7099122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kern="100" spc="-100" dirty="0">
                <a:solidFill>
                  <a:srgbClr val="2857D6"/>
                </a:solidFill>
                <a:latin typeface="Barlow Condensed Bold" panose="00000806000000000000" pitchFamily="34" charset="0"/>
                <a:ea typeface="Barlow Condensed Bold" panose="00000806000000000000" pitchFamily="34" charset="-122"/>
                <a:cs typeface="Barlow Condensed Bold" panose="00000806000000000000" pitchFamily="34" charset="-120"/>
              </a:rPr>
              <a:t>Thank you</a:t>
            </a:r>
            <a:endParaRPr lang="en-US" sz="5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196" y="1908770"/>
            <a:ext cx="3365515" cy="411896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191196" y="6290866"/>
            <a:ext cx="3594109" cy="166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COMPLETED PROTOTYPE · PARITY CHECKER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06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949601" y="1908770"/>
            <a:ext cx="12700" cy="1547118"/>
          </a:xfrm>
          <a:prstGeom prst="rect">
            <a:avLst/>
          </a:prstGeom>
          <a:solidFill>
            <a:srgbClr val="AEB8C2"/>
          </a:solidFill>
        </p:spPr>
      </p:sp>
      <p:sp>
        <p:nvSpPr>
          <p:cNvPr id="20" name="Shape 17"/>
          <p:cNvSpPr/>
          <p:nvPr/>
        </p:nvSpPr>
        <p:spPr>
          <a:xfrm>
            <a:off x="406390" y="3449538"/>
            <a:ext cx="3549561" cy="12700"/>
          </a:xfrm>
          <a:prstGeom prst="rect">
            <a:avLst/>
          </a:prstGeom>
          <a:solidFill>
            <a:srgbClr val="AEB8C2"/>
          </a:solidFill>
        </p:spPr>
      </p:sp>
      <p:sp>
        <p:nvSpPr>
          <p:cNvPr id="21" name="Shape 18"/>
          <p:cNvSpPr/>
          <p:nvPr/>
        </p:nvSpPr>
        <p:spPr>
          <a:xfrm>
            <a:off x="3949601" y="3455888"/>
            <a:ext cx="12700" cy="1547118"/>
          </a:xfrm>
          <a:prstGeom prst="rect">
            <a:avLst/>
          </a:prstGeom>
          <a:solidFill>
            <a:srgbClr val="AEB8C2"/>
          </a:solidFill>
        </p:spPr>
      </p:sp>
      <p:sp>
        <p:nvSpPr>
          <p:cNvPr id="22" name="Shape 19"/>
          <p:cNvSpPr/>
          <p:nvPr/>
        </p:nvSpPr>
        <p:spPr>
          <a:xfrm>
            <a:off x="3955951" y="3449538"/>
            <a:ext cx="3549561" cy="12700"/>
          </a:xfrm>
          <a:prstGeom prst="rect">
            <a:avLst/>
          </a:prstGeom>
          <a:solidFill>
            <a:srgbClr val="AEB8C2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2591</Words>
  <Application>WPS Presentation</Application>
  <PresentationFormat>On-screen Show (16:9)</PresentationFormat>
  <Paragraphs>171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0" baseType="lpstr">
      <vt:lpstr>Arial</vt:lpstr>
      <vt:lpstr>SimSun</vt:lpstr>
      <vt:lpstr>Wingdings</vt:lpstr>
      <vt:lpstr>IBM Plex Mono SemiBold</vt:lpstr>
      <vt:lpstr>IBM Plex Mono SemiBold</vt:lpstr>
      <vt:lpstr>IBM Plex Mono SemiBold</vt:lpstr>
      <vt:lpstr>Barlow Condensed Bold</vt:lpstr>
      <vt:lpstr>Barlow Condensed Bold</vt:lpstr>
      <vt:lpstr>Barlow Condensed Bold</vt:lpstr>
      <vt:lpstr>Source Sans 3</vt:lpstr>
      <vt:lpstr>Source Sans 3</vt:lpstr>
      <vt:lpstr>Source Sans 3</vt:lpstr>
      <vt:lpstr>IBM Plex Mono Medium</vt:lpstr>
      <vt:lpstr>IBM Plex Mono Medium</vt:lpstr>
      <vt:lpstr>IBM Plex Mono Medium</vt:lpstr>
      <vt:lpstr>Source Sans 3 Bold</vt:lpstr>
      <vt:lpstr>Source Sans 3 Bold</vt:lpstr>
      <vt:lpstr>Source Sans 3 Bold</vt:lpstr>
      <vt:lpstr>Calibri</vt:lpstr>
      <vt:lpstr>Microsoft YaHei</vt:lpstr>
      <vt:lpstr>Arial Unicode MS</vt:lpstr>
      <vt:lpstr>Manrope ExtraBold</vt:lpstr>
      <vt:lpstr>Lato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Yashaswini</cp:lastModifiedBy>
  <cp:revision>3</cp:revision>
  <dcterms:created xsi:type="dcterms:W3CDTF">2026-10-14T16:52:00Z</dcterms:created>
  <dcterms:modified xsi:type="dcterms:W3CDTF">2026-10-14T17:08:00Z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CFE3037C88A542ECB3CDD097074743C1_12</vt:lpwstr>
  </property>
  <property fmtid="{D5CDD505-2E9C-101B-9397-08002B2CF9AE}" pid="3" name="KSOProductBuildVer">
    <vt:lpwstr>2057-12.2.0.23206</vt:lpwstr>
  </property>
</Properties>
</file>