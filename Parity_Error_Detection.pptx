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5" Type="http://schemas.openxmlformats.org/officeDocument/2006/relationships/tableStyles" Target="tableStyles.xml"/><Relationship Id="rId14" Type="http://schemas.openxmlformats.org/officeDocument/2006/relationships/viewProps" Target="viewProps.xml"/><Relationship Id="rId13" Type="http://schemas.openxmlformats.org/officeDocument/2006/relationships/presProps" Target="presProps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tags" Target="../tags/tag9.xml"/><Relationship Id="rId8" Type="http://schemas.openxmlformats.org/officeDocument/2006/relationships/tags" Target="../tags/tag8.xml"/><Relationship Id="rId7" Type="http://schemas.openxmlformats.org/officeDocument/2006/relationships/tags" Target="../tags/tag7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2" Type="http://schemas.openxmlformats.org/officeDocument/2006/relationships/notesSlide" Target="../notesSlides/notesSlide2.xml"/><Relationship Id="rId21" Type="http://schemas.openxmlformats.org/officeDocument/2006/relationships/slideLayout" Target="../slideLayouts/slideLayout1.xml"/><Relationship Id="rId20" Type="http://schemas.openxmlformats.org/officeDocument/2006/relationships/tags" Target="../tags/tag20.xml"/><Relationship Id="rId2" Type="http://schemas.openxmlformats.org/officeDocument/2006/relationships/tags" Target="../tags/tag2.xml"/><Relationship Id="rId19" Type="http://schemas.openxmlformats.org/officeDocument/2006/relationships/tags" Target="../tags/tag19.xml"/><Relationship Id="rId18" Type="http://schemas.openxmlformats.org/officeDocument/2006/relationships/tags" Target="../tags/tag18.xml"/><Relationship Id="rId17" Type="http://schemas.openxmlformats.org/officeDocument/2006/relationships/tags" Target="../tags/tag17.xml"/><Relationship Id="rId16" Type="http://schemas.openxmlformats.org/officeDocument/2006/relationships/tags" Target="../tags/tag16.xml"/><Relationship Id="rId15" Type="http://schemas.openxmlformats.org/officeDocument/2006/relationships/tags" Target="../tags/tag15.xml"/><Relationship Id="rId14" Type="http://schemas.openxmlformats.org/officeDocument/2006/relationships/tags" Target="../tags/tag14.xml"/><Relationship Id="rId13" Type="http://schemas.openxmlformats.org/officeDocument/2006/relationships/tags" Target="../tags/tag13.xml"/><Relationship Id="rId12" Type="http://schemas.openxmlformats.org/officeDocument/2006/relationships/tags" Target="../tags/tag12.xml"/><Relationship Id="rId11" Type="http://schemas.openxmlformats.org/officeDocument/2006/relationships/tags" Target="../tags/tag11.xml"/><Relationship Id="rId10" Type="http://schemas.openxmlformats.org/officeDocument/2006/relationships/tags" Target="../tags/tag10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731520"/>
            <a:ext cx="7863840" cy="1463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Digital Error Detection System Using Parity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286000"/>
            <a:ext cx="78638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2EE6A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Built with logic gates and simulated in Logisim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10896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1C4468"/>
          </a:solidFill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1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310896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1C4468"/>
          </a:solidFill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0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737360" y="310896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1C4468"/>
          </a:solidFill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2377440" y="310896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1C4468"/>
          </a:solidFill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3017520" y="310896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FFB703"/>
          </a:solidFill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B1F33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79476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FB6C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 data bits + 1 even-parity bit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FB6C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Presented by Team [Team Name]   |   B.Tech 1st Year   |   Digital Logic Design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B1F33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Meet the Team</a:t>
            </a:r>
            <a:endParaRPr lang="en-US" sz="3600" dirty="0"/>
          </a:p>
        </p:txBody>
      </p:sp>
      <p:sp>
        <p:nvSpPr>
          <p:cNvPr id="3" name="Shape 1"/>
          <p:cNvSpPr/>
          <p:nvPr>
            <p:custDataLst>
              <p:tags r:id="rId1"/>
            </p:custDataLst>
          </p:nvPr>
        </p:nvSpPr>
        <p:spPr>
          <a:xfrm>
            <a:off x="457200" y="1325880"/>
            <a:ext cx="1920240" cy="2651760"/>
          </a:xfrm>
          <a:prstGeom prst="roundRect">
            <a:avLst>
              <a:gd name="adj" fmla="val 4762"/>
            </a:avLst>
          </a:prstGeom>
          <a:solidFill>
            <a:srgbClr val="EAF2F8"/>
          </a:solidFill>
          <a:ln w="12700">
            <a:solidFill>
              <a:srgbClr val="EAF2F8"/>
            </a:solidFill>
            <a:prstDash val="solid"/>
          </a:ln>
        </p:spPr>
      </p:sp>
      <p:sp>
        <p:nvSpPr>
          <p:cNvPr id="4" name="Text 2"/>
          <p:cNvSpPr txBox="1"/>
          <p:nvPr>
            <p:custDataLst>
              <p:tags r:id="rId2"/>
            </p:custDataLst>
          </p:nvPr>
        </p:nvSpPr>
        <p:spPr>
          <a:xfrm>
            <a:off x="1097280" y="1508760"/>
            <a:ext cx="640080" cy="640080"/>
          </a:xfrm>
          <a:prstGeom prst="ellipse">
            <a:avLst/>
          </a:prstGeom>
          <a:solidFill>
            <a:srgbClr val="0B1F33"/>
          </a:solidFill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2EE6A6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1</a:t>
            </a:r>
            <a:endParaRPr lang="en-US" sz="2400" dirty="0"/>
          </a:p>
        </p:txBody>
      </p:sp>
      <p:sp>
        <p:nvSpPr>
          <p:cNvPr id="5" name="Text 3"/>
          <p:cNvSpPr txBox="1"/>
          <p:nvPr>
            <p:custDataLst>
              <p:tags r:id="rId3"/>
            </p:custDataLst>
          </p:nvPr>
        </p:nvSpPr>
        <p:spPr>
          <a:xfrm>
            <a:off x="548640" y="23317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IN" altLang="en-US" sz="1600" b="1" dirty="0">
                <a:solidFill>
                  <a:srgbClr val="0B1F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GUNA</a:t>
            </a:r>
            <a:endParaRPr lang="en-IN" altLang="en-US" sz="1600" b="1" dirty="0">
              <a:solidFill>
                <a:srgbClr val="0B1F33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6" name="Text 4"/>
          <p:cNvSpPr txBox="1"/>
          <p:nvPr>
            <p:custDataLst>
              <p:tags r:id="rId4"/>
            </p:custDataLst>
          </p:nvPr>
        </p:nvSpPr>
        <p:spPr>
          <a:xfrm>
            <a:off x="548640" y="2724912"/>
            <a:ext cx="17373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B1F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Roll No: </a:t>
            </a:r>
            <a:r>
              <a:rPr lang="en-IN" altLang="en-US" sz="1400" dirty="0">
                <a:solidFill>
                  <a:srgbClr val="0B1F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2620030324</a:t>
            </a:r>
            <a:endParaRPr lang="en-US" sz="1400" dirty="0"/>
          </a:p>
        </p:txBody>
      </p:sp>
      <p:sp>
        <p:nvSpPr>
          <p:cNvPr id="7" name="Text 5"/>
          <p:cNvSpPr txBox="1"/>
          <p:nvPr>
            <p:custDataLst>
              <p:tags r:id="rId5"/>
            </p:custDataLst>
          </p:nvPr>
        </p:nvSpPr>
        <p:spPr>
          <a:xfrm>
            <a:off x="548640" y="3154680"/>
            <a:ext cx="1737360" cy="6400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A7F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Circuit design</a:t>
            </a:r>
            <a:endParaRPr lang="en-US" sz="1400" dirty="0"/>
          </a:p>
        </p:txBody>
      </p:sp>
      <p:sp>
        <p:nvSpPr>
          <p:cNvPr id="8" name="Shape 6"/>
          <p:cNvSpPr/>
          <p:nvPr>
            <p:custDataLst>
              <p:tags r:id="rId6"/>
            </p:custDataLst>
          </p:nvPr>
        </p:nvSpPr>
        <p:spPr>
          <a:xfrm>
            <a:off x="2560320" y="1325880"/>
            <a:ext cx="1920240" cy="2651760"/>
          </a:xfrm>
          <a:prstGeom prst="roundRect">
            <a:avLst>
              <a:gd name="adj" fmla="val 4762"/>
            </a:avLst>
          </a:prstGeom>
          <a:solidFill>
            <a:srgbClr val="EAF2F8"/>
          </a:solidFill>
          <a:ln w="12700">
            <a:solidFill>
              <a:srgbClr val="EAF2F8"/>
            </a:solidFill>
            <a:prstDash val="solid"/>
          </a:ln>
        </p:spPr>
      </p:sp>
      <p:sp>
        <p:nvSpPr>
          <p:cNvPr id="9" name="Text 7"/>
          <p:cNvSpPr txBox="1"/>
          <p:nvPr>
            <p:custDataLst>
              <p:tags r:id="rId7"/>
            </p:custDataLst>
          </p:nvPr>
        </p:nvSpPr>
        <p:spPr>
          <a:xfrm>
            <a:off x="3200400" y="1508760"/>
            <a:ext cx="640080" cy="640080"/>
          </a:xfrm>
          <a:prstGeom prst="ellipse">
            <a:avLst/>
          </a:prstGeom>
          <a:solidFill>
            <a:srgbClr val="0B1F33"/>
          </a:solidFill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2EE6A6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2</a:t>
            </a:r>
            <a:endParaRPr lang="en-US" sz="2400" dirty="0"/>
          </a:p>
        </p:txBody>
      </p:sp>
      <p:sp>
        <p:nvSpPr>
          <p:cNvPr id="10" name="Text 8"/>
          <p:cNvSpPr txBox="1"/>
          <p:nvPr>
            <p:custDataLst>
              <p:tags r:id="rId8"/>
            </p:custDataLst>
          </p:nvPr>
        </p:nvSpPr>
        <p:spPr>
          <a:xfrm>
            <a:off x="2651760" y="23317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IN" altLang="en-US" sz="1600" b="1" dirty="0">
                <a:solidFill>
                  <a:srgbClr val="0B1F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SRIJA</a:t>
            </a:r>
            <a:endParaRPr lang="en-US" sz="1600" dirty="0"/>
          </a:p>
        </p:txBody>
      </p:sp>
      <p:sp>
        <p:nvSpPr>
          <p:cNvPr id="11" name="Text 9"/>
          <p:cNvSpPr txBox="1"/>
          <p:nvPr>
            <p:custDataLst>
              <p:tags r:id="rId9"/>
            </p:custDataLst>
          </p:nvPr>
        </p:nvSpPr>
        <p:spPr>
          <a:xfrm>
            <a:off x="2651760" y="2724912"/>
            <a:ext cx="17373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B1F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Roll No: </a:t>
            </a:r>
            <a:r>
              <a:rPr lang="en-IN" altLang="en-US" sz="1400" dirty="0">
                <a:solidFill>
                  <a:srgbClr val="0B1F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2620030323</a:t>
            </a:r>
            <a:endParaRPr lang="en-US" sz="1400" dirty="0"/>
          </a:p>
        </p:txBody>
      </p:sp>
      <p:sp>
        <p:nvSpPr>
          <p:cNvPr id="12" name="Text 10"/>
          <p:cNvSpPr txBox="1"/>
          <p:nvPr>
            <p:custDataLst>
              <p:tags r:id="rId10"/>
            </p:custDataLst>
          </p:nvPr>
        </p:nvSpPr>
        <p:spPr>
          <a:xfrm>
            <a:off x="2651760" y="3154680"/>
            <a:ext cx="1737360" cy="6400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A7F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Logisim simulation</a:t>
            </a:r>
            <a:endParaRPr lang="en-US" sz="1400" dirty="0"/>
          </a:p>
        </p:txBody>
      </p:sp>
      <p:sp>
        <p:nvSpPr>
          <p:cNvPr id="13" name="Shape 11"/>
          <p:cNvSpPr/>
          <p:nvPr>
            <p:custDataLst>
              <p:tags r:id="rId11"/>
            </p:custDataLst>
          </p:nvPr>
        </p:nvSpPr>
        <p:spPr>
          <a:xfrm>
            <a:off x="4663440" y="1325880"/>
            <a:ext cx="1920240" cy="2651760"/>
          </a:xfrm>
          <a:prstGeom prst="roundRect">
            <a:avLst>
              <a:gd name="adj" fmla="val 4762"/>
            </a:avLst>
          </a:prstGeom>
          <a:solidFill>
            <a:srgbClr val="EAF2F8"/>
          </a:solidFill>
          <a:ln w="12700">
            <a:solidFill>
              <a:srgbClr val="EAF2F8"/>
            </a:solidFill>
            <a:prstDash val="solid"/>
          </a:ln>
        </p:spPr>
      </p:sp>
      <p:sp>
        <p:nvSpPr>
          <p:cNvPr id="14" name="Text 12"/>
          <p:cNvSpPr txBox="1"/>
          <p:nvPr>
            <p:custDataLst>
              <p:tags r:id="rId12"/>
            </p:custDataLst>
          </p:nvPr>
        </p:nvSpPr>
        <p:spPr>
          <a:xfrm>
            <a:off x="5303520" y="1508760"/>
            <a:ext cx="640080" cy="640080"/>
          </a:xfrm>
          <a:prstGeom prst="ellipse">
            <a:avLst/>
          </a:prstGeom>
          <a:solidFill>
            <a:srgbClr val="0B1F33"/>
          </a:solidFill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2EE6A6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Text 13"/>
          <p:cNvSpPr txBox="1"/>
          <p:nvPr>
            <p:custDataLst>
              <p:tags r:id="rId13"/>
            </p:custDataLst>
          </p:nvPr>
        </p:nvSpPr>
        <p:spPr>
          <a:xfrm>
            <a:off x="4754880" y="23317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IN" altLang="en-US" sz="1600" b="1" dirty="0">
                <a:solidFill>
                  <a:srgbClr val="0B1F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YASHASWINI</a:t>
            </a:r>
            <a:endParaRPr lang="en-US" sz="1600" dirty="0"/>
          </a:p>
        </p:txBody>
      </p:sp>
      <p:sp>
        <p:nvSpPr>
          <p:cNvPr id="16" name="Text 14"/>
          <p:cNvSpPr txBox="1"/>
          <p:nvPr>
            <p:custDataLst>
              <p:tags r:id="rId14"/>
            </p:custDataLst>
          </p:nvPr>
        </p:nvSpPr>
        <p:spPr>
          <a:xfrm>
            <a:off x="4754880" y="2724912"/>
            <a:ext cx="17373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B1F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Roll No: </a:t>
            </a:r>
            <a:r>
              <a:rPr lang="en-IN" altLang="en-US" sz="1400" dirty="0">
                <a:solidFill>
                  <a:srgbClr val="0B1F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26200302760</a:t>
            </a:r>
            <a:endParaRPr lang="en-IN" altLang="en-US" sz="1400" dirty="0">
              <a:solidFill>
                <a:srgbClr val="0B1F33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7" name="Text 15"/>
          <p:cNvSpPr txBox="1"/>
          <p:nvPr>
            <p:custDataLst>
              <p:tags r:id="rId15"/>
            </p:custDataLst>
          </p:nvPr>
        </p:nvSpPr>
        <p:spPr>
          <a:xfrm>
            <a:off x="4754880" y="3154680"/>
            <a:ext cx="1737360" cy="6400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A7F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Testing and results</a:t>
            </a:r>
            <a:endParaRPr lang="en-US" sz="1400" dirty="0"/>
          </a:p>
        </p:txBody>
      </p:sp>
      <p:sp>
        <p:nvSpPr>
          <p:cNvPr id="18" name="Shape 16"/>
          <p:cNvSpPr/>
          <p:nvPr>
            <p:custDataLst>
              <p:tags r:id="rId16"/>
            </p:custDataLst>
          </p:nvPr>
        </p:nvSpPr>
        <p:spPr>
          <a:xfrm>
            <a:off x="6766560" y="1325880"/>
            <a:ext cx="1920240" cy="2651760"/>
          </a:xfrm>
          <a:prstGeom prst="roundRect">
            <a:avLst>
              <a:gd name="adj" fmla="val 4762"/>
            </a:avLst>
          </a:prstGeom>
          <a:solidFill>
            <a:srgbClr val="EAF2F8"/>
          </a:solidFill>
          <a:ln w="12700">
            <a:solidFill>
              <a:srgbClr val="EAF2F8"/>
            </a:solidFill>
            <a:prstDash val="solid"/>
          </a:ln>
        </p:spPr>
      </p:sp>
      <p:sp>
        <p:nvSpPr>
          <p:cNvPr id="19" name="Text 17"/>
          <p:cNvSpPr txBox="1"/>
          <p:nvPr>
            <p:custDataLst>
              <p:tags r:id="rId17"/>
            </p:custDataLst>
          </p:nvPr>
        </p:nvSpPr>
        <p:spPr>
          <a:xfrm>
            <a:off x="7406640" y="1508760"/>
            <a:ext cx="640080" cy="640080"/>
          </a:xfrm>
          <a:prstGeom prst="ellipse">
            <a:avLst/>
          </a:prstGeom>
          <a:solidFill>
            <a:srgbClr val="0B1F33"/>
          </a:solidFill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2EE6A6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4</a:t>
            </a:r>
            <a:endParaRPr lang="en-US" sz="2400" dirty="0"/>
          </a:p>
        </p:txBody>
      </p:sp>
      <p:sp>
        <p:nvSpPr>
          <p:cNvPr id="20" name="Text 18"/>
          <p:cNvSpPr txBox="1"/>
          <p:nvPr>
            <p:custDataLst>
              <p:tags r:id="rId18"/>
            </p:custDataLst>
          </p:nvPr>
        </p:nvSpPr>
        <p:spPr>
          <a:xfrm>
            <a:off x="6858000" y="23317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IN" altLang="en-US" sz="1600" b="1" dirty="0">
                <a:solidFill>
                  <a:srgbClr val="0B1F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AKSHITA</a:t>
            </a:r>
            <a:endParaRPr lang="en-US" sz="1600" dirty="0"/>
          </a:p>
        </p:txBody>
      </p:sp>
      <p:sp>
        <p:nvSpPr>
          <p:cNvPr id="21" name="Text 19"/>
          <p:cNvSpPr txBox="1"/>
          <p:nvPr>
            <p:custDataLst>
              <p:tags r:id="rId19"/>
            </p:custDataLst>
          </p:nvPr>
        </p:nvSpPr>
        <p:spPr>
          <a:xfrm>
            <a:off x="6858000" y="2724912"/>
            <a:ext cx="17373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B1F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Roll No: </a:t>
            </a:r>
            <a:r>
              <a:rPr lang="en-IN" altLang="en-US" sz="1400" dirty="0">
                <a:solidFill>
                  <a:srgbClr val="0B1F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2620030329</a:t>
            </a:r>
            <a:endParaRPr lang="en-US" sz="1400" dirty="0"/>
          </a:p>
        </p:txBody>
      </p:sp>
      <p:sp>
        <p:nvSpPr>
          <p:cNvPr id="22" name="Text 20"/>
          <p:cNvSpPr txBox="1"/>
          <p:nvPr>
            <p:custDataLst>
              <p:tags r:id="rId20"/>
            </p:custDataLst>
          </p:nvPr>
        </p:nvSpPr>
        <p:spPr>
          <a:xfrm>
            <a:off x="6858000" y="3154680"/>
            <a:ext cx="1737360" cy="6400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A7F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Presentation and report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425196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B1F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Guided by: [</a:t>
            </a:r>
            <a:r>
              <a:rPr lang="en-IN" altLang="en-US" sz="1600" dirty="0">
                <a:solidFill>
                  <a:srgbClr val="0B1F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Dayarnab</a:t>
            </a:r>
            <a:r>
              <a:rPr lang="en-US" sz="1600" dirty="0">
                <a:solidFill>
                  <a:srgbClr val="0B1F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]   |   [</a:t>
            </a:r>
            <a:r>
              <a:rPr lang="en-IN" altLang="en-US" sz="1600" dirty="0">
                <a:solidFill>
                  <a:srgbClr val="0B1F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KLH</a:t>
            </a:r>
            <a:r>
              <a:rPr lang="en-US" sz="1600" dirty="0">
                <a:solidFill>
                  <a:srgbClr val="0B1F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]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B1F33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What Is a Parity Bit?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8229600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B1F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Noise can flip a 0 to a 1 while data is sent or stored. A parity bit is one extra bit that makes the number of 1s even or odd, so a single flip can be spotted.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2057400"/>
            <a:ext cx="4023360" cy="2606040"/>
          </a:xfrm>
          <a:prstGeom prst="roundRect">
            <a:avLst>
              <a:gd name="adj" fmla="val 3509"/>
            </a:avLst>
          </a:prstGeom>
          <a:solidFill>
            <a:srgbClr val="EAF2F8"/>
          </a:solidFill>
          <a:ln w="12700">
            <a:solidFill>
              <a:srgbClr val="EAF2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2194560"/>
            <a:ext cx="356616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A7F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Even Parity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651760"/>
            <a:ext cx="35661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B1F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Total 1s (data + parity) must be even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1089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B1F33"/>
          </a:solidFill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1089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B1F33"/>
          </a:solidFill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0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1783080" y="31089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B1F33"/>
          </a:solidFill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1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2331720" y="31089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B1F33"/>
          </a:solidFill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1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2880360" y="31089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FB703"/>
          </a:solidFill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B1F33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1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3794760"/>
            <a:ext cx="3566160" cy="6400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B1F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Data 1011 has three 1s, so P = 1 makes four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057400"/>
            <a:ext cx="4023360" cy="2606040"/>
          </a:xfrm>
          <a:prstGeom prst="roundRect">
            <a:avLst>
              <a:gd name="adj" fmla="val 3509"/>
            </a:avLst>
          </a:prstGeom>
          <a:solidFill>
            <a:srgbClr val="EAF2F8"/>
          </a:solidFill>
          <a:ln w="12700">
            <a:solidFill>
              <a:srgbClr val="EAF2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92040" y="2194560"/>
            <a:ext cx="356616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A7F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Odd Parity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4892040" y="2651760"/>
            <a:ext cx="35661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B1F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Total 1s (data + parity) must be odd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1089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B1F33"/>
          </a:solidFill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1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5440680" y="31089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B1F33"/>
          </a:solidFill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0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5989320" y="31089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B1F33"/>
          </a:solidFill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1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6537960" y="31089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B1F33"/>
          </a:solidFill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1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7086600" y="31089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FB703"/>
          </a:solidFill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B1F33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0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4892040" y="3794760"/>
            <a:ext cx="3566160" cy="6400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B1F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Data 1011 has three 1s already, so P = 0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B1F33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Logic Gates We Use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4023360" cy="3383280"/>
          </a:xfrm>
          <a:prstGeom prst="roundRect">
            <a:avLst>
              <a:gd name="adj" fmla="val 2703"/>
            </a:avLst>
          </a:prstGeom>
          <a:solidFill>
            <a:srgbClr val="EAF2F8"/>
          </a:solidFill>
          <a:ln w="12700">
            <a:solidFill>
              <a:srgbClr val="EAF2F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371600"/>
            <a:ext cx="356616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A7F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XOR gate  (A ⊕ B)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783080"/>
            <a:ext cx="35661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B1F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Output is 1 only when the inputs differ.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/>
        </p:nvGraphicFramePr>
        <p:xfrm>
          <a:off x="685800" y="2194560"/>
          <a:ext cx="3566160" cy="1463040"/>
        </p:xfrm>
        <a:graphic>
          <a:graphicData uri="http://schemas.openxmlformats.org/drawingml/2006/table">
            <a:tbl>
              <a:tblPr/>
              <a:tblGrid>
                <a:gridCol w="1005840"/>
                <a:gridCol w="1005840"/>
                <a:gridCol w="1554480"/>
              </a:tblGrid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A</a:t>
                      </a:r>
                      <a:endParaRPr lang="en-US" sz="14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B</a:t>
                      </a:r>
                      <a:endParaRPr lang="en-US" sz="14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Y = A ⊕ B</a:t>
                      </a:r>
                      <a:endParaRPr lang="en-US" sz="14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B1F33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0</a:t>
                      </a:r>
                      <a:endParaRPr lang="en-US" sz="14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B1F33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0</a:t>
                      </a:r>
                      <a:endParaRPr lang="en-US" sz="14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B1F33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0</a:t>
                      </a:r>
                      <a:endParaRPr lang="en-US" sz="14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B1F33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0</a:t>
                      </a:r>
                      <a:endParaRPr lang="en-US" sz="14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B1F33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1</a:t>
                      </a:r>
                      <a:endParaRPr lang="en-US" sz="14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B1F33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1</a:t>
                      </a:r>
                      <a:endParaRPr lang="en-US" sz="14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B1F33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1</a:t>
                      </a:r>
                      <a:endParaRPr lang="en-US" sz="14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B1F33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0</a:t>
                      </a:r>
                      <a:endParaRPr lang="en-US" sz="14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B1F33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1</a:t>
                      </a:r>
                      <a:endParaRPr lang="en-US" sz="14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B1F33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1</a:t>
                      </a:r>
                      <a:endParaRPr lang="en-US" sz="14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B1F33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1</a:t>
                      </a:r>
                      <a:endParaRPr lang="en-US" sz="14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B1F33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0</a:t>
                      </a:r>
                      <a:endParaRPr lang="en-US" sz="14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85800" y="3794760"/>
            <a:ext cx="3566160" cy="7315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B1F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Chain XORs and the result is 1 when the count of 1s is odd. That is the parity.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663440" y="1280160"/>
            <a:ext cx="4023360" cy="1600200"/>
          </a:xfrm>
          <a:prstGeom prst="roundRect">
            <a:avLst>
              <a:gd name="adj" fmla="val 5714"/>
            </a:avLst>
          </a:prstGeom>
          <a:solidFill>
            <a:srgbClr val="EAF2F8"/>
          </a:solidFill>
          <a:ln w="12700">
            <a:solidFill>
              <a:srgbClr val="EAF2F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892040" y="1417320"/>
            <a:ext cx="356616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A7F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XNOR gate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4892040" y="1874520"/>
            <a:ext cx="3566160" cy="8229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B1F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XOR followed by NOT. Gives the odd-parity bit.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663440" y="3063240"/>
            <a:ext cx="4023360" cy="1600200"/>
          </a:xfrm>
          <a:prstGeom prst="roundRect">
            <a:avLst>
              <a:gd name="adj" fmla="val 5714"/>
            </a:avLst>
          </a:prstGeom>
          <a:solidFill>
            <a:srgbClr val="EAF2F8"/>
          </a:solidFill>
          <a:ln w="12700">
            <a:solidFill>
              <a:srgbClr val="EAF2F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892040" y="3200400"/>
            <a:ext cx="356616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A7F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NOT gate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4892040" y="3657600"/>
            <a:ext cx="3566160" cy="8229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B1F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Inverts a bit. Turns an even-parity bit into an odd-parity bit.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B1F33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Parity Generator Circuit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5577840" cy="2651760"/>
          </a:xfrm>
          <a:prstGeom prst="roundRect">
            <a:avLst>
              <a:gd name="adj" fmla="val 3448"/>
            </a:avLst>
          </a:prstGeom>
          <a:solidFill>
            <a:srgbClr val="EAF2F8"/>
          </a:solidFill>
          <a:ln w="12700">
            <a:solidFill>
              <a:srgbClr val="EAF2F8"/>
            </a:solidFill>
            <a:prstDash val="solid"/>
          </a:ln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5975"/>
            <a:ext cx="5394960" cy="2380129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4114800"/>
            <a:ext cx="5577840" cy="548640"/>
          </a:xfrm>
          <a:prstGeom prst="roundRect">
            <a:avLst>
              <a:gd name="adj" fmla="val 16667"/>
            </a:avLst>
          </a:prstGeom>
          <a:solidFill>
            <a:srgbClr val="0B1F33"/>
          </a:solidFill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 = D3 ⊕ D2 ⊕ D1 ⊕ D0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6217920" y="1280160"/>
            <a:ext cx="2468880" cy="3383280"/>
          </a:xfrm>
          <a:prstGeom prst="roundRect">
            <a:avLst>
              <a:gd name="adj" fmla="val 3704"/>
            </a:avLst>
          </a:prstGeom>
          <a:solidFill>
            <a:srgbClr val="EAF2F8"/>
          </a:solidFill>
          <a:ln w="12700">
            <a:solidFill>
              <a:srgbClr val="EAF2F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400800" y="1463040"/>
            <a:ext cx="2103120" cy="30175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0B1F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Inputs: 4 data bits D0 to D3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0B1F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Gates: 3 two-input XOR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0B1F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Output P makes the total number of 1s even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0B1F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For odd parity, add a NOT gate on P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B1F33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Parity Checker Circuit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5577840" cy="2651760"/>
          </a:xfrm>
          <a:prstGeom prst="roundRect">
            <a:avLst>
              <a:gd name="adj" fmla="val 3448"/>
            </a:avLst>
          </a:prstGeom>
          <a:solidFill>
            <a:srgbClr val="EAF2F8"/>
          </a:solidFill>
          <a:ln w="12700">
            <a:solidFill>
              <a:srgbClr val="EAF2F8"/>
            </a:solidFill>
            <a:prstDash val="solid"/>
          </a:ln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4119"/>
            <a:ext cx="5394960" cy="200384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4114800"/>
            <a:ext cx="5577840" cy="548640"/>
          </a:xfrm>
          <a:prstGeom prst="roundRect">
            <a:avLst>
              <a:gd name="adj" fmla="val 16667"/>
            </a:avLst>
          </a:prstGeom>
          <a:solidFill>
            <a:srgbClr val="0B1F33"/>
          </a:solidFill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 = D3 ⊕ D2 ⊕ D1 ⊕ D0 ⊕ P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6217920" y="1280160"/>
            <a:ext cx="2468880" cy="3383280"/>
          </a:xfrm>
          <a:prstGeom prst="roundRect">
            <a:avLst>
              <a:gd name="adj" fmla="val 3704"/>
            </a:avLst>
          </a:prstGeom>
          <a:solidFill>
            <a:srgbClr val="EAF2F8"/>
          </a:solidFill>
          <a:ln w="12700">
            <a:solidFill>
              <a:srgbClr val="EAF2F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400800" y="1463040"/>
            <a:ext cx="2103120" cy="30175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0B1F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Inputs: received data bits plus the parity bit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0B1F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Gates: 4 two-input XOR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0B1F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 = 0: no error detected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0B1F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 = 1: error detected, ask for resend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B1F33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Building It in Logisim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457200" cy="457200"/>
          </a:xfrm>
          <a:prstGeom prst="ellipse">
            <a:avLst/>
          </a:prstGeom>
          <a:solidFill>
            <a:srgbClr val="0B1F33"/>
          </a:solidFill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EE6A6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1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1234440"/>
            <a:ext cx="438912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B1F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Create a new circuit and name it parity_generator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956816"/>
            <a:ext cx="457200" cy="457200"/>
          </a:xfrm>
          <a:prstGeom prst="ellipse">
            <a:avLst/>
          </a:prstGeom>
          <a:solidFill>
            <a:srgbClr val="0B1F33"/>
          </a:solidFill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EE6A6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2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1911096"/>
            <a:ext cx="438912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B1F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Add four Input pins (D0 to D3) and one Output pin (P)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633472"/>
            <a:ext cx="457200" cy="457200"/>
          </a:xfrm>
          <a:prstGeom prst="ellipse">
            <a:avLst/>
          </a:prstGeom>
          <a:solidFill>
            <a:srgbClr val="0B1F33"/>
          </a:solidFill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EE6A6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3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587752"/>
            <a:ext cx="438912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B1F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Place three XOR gates from the Gates folder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310128"/>
            <a:ext cx="457200" cy="457200"/>
          </a:xfrm>
          <a:prstGeom prst="ellipse">
            <a:avLst/>
          </a:prstGeom>
          <a:solidFill>
            <a:srgbClr val="0B1F33"/>
          </a:solidFill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EE6A6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4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3264408"/>
            <a:ext cx="438912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B1F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Wire the gates as a tree, as in the circuit diagram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986784"/>
            <a:ext cx="457200" cy="457200"/>
          </a:xfrm>
          <a:prstGeom prst="ellipse">
            <a:avLst/>
          </a:prstGeom>
          <a:solidFill>
            <a:srgbClr val="0B1F33"/>
          </a:solidFill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EE6A6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5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3941064"/>
            <a:ext cx="438912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B1F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Use the Poke tool to toggle inputs and check P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760720" y="1280160"/>
            <a:ext cx="2926080" cy="3383280"/>
          </a:xfrm>
          <a:prstGeom prst="roundRect">
            <a:avLst>
              <a:gd name="adj" fmla="val 3125"/>
            </a:avLst>
          </a:prstGeom>
          <a:solidFill>
            <a:srgbClr val="EAF2F8"/>
          </a:solidFill>
          <a:ln w="12700">
            <a:solidFill>
              <a:srgbClr val="EAF2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943600" y="1371600"/>
            <a:ext cx="25603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A7F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Components used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0" y="1783080"/>
            <a:ext cx="2560320" cy="15544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0B1F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Input pins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0B1F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Output pin or LED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0B1F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XOR gate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0B1F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NOT gate (odd parity)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0B1F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Wiring and Poke tools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943600" y="3474720"/>
            <a:ext cx="2560320" cy="10058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i="1" dirty="0">
                <a:solidFill>
                  <a:srgbClr val="0B1F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Tip: a 4-input XOR in Logisim outputs the parity directly.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B1F33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Simulation: Test Cases</a:t>
            </a:r>
            <a:endParaRPr lang="en-US" sz="3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/>
        </p:nvGraphicFramePr>
        <p:xfrm>
          <a:off x="457200" y="1280160"/>
          <a:ext cx="8229600" cy="2514600"/>
        </p:xfrm>
        <a:graphic>
          <a:graphicData uri="http://schemas.openxmlformats.org/drawingml/2006/table">
            <a:tbl>
              <a:tblPr/>
              <a:tblGrid>
                <a:gridCol w="2286000"/>
                <a:gridCol w="1188720"/>
                <a:gridCol w="822960"/>
                <a:gridCol w="1188720"/>
                <a:gridCol w="1005840"/>
                <a:gridCol w="1737360"/>
              </a:tblGrid>
              <a:tr h="5029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Case</a:t>
                      </a:r>
                      <a:endParaRPr lang="en-US" sz="14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Data D3–D0</a:t>
                      </a:r>
                      <a:endParaRPr lang="en-US" sz="14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Even P</a:t>
                      </a:r>
                      <a:endParaRPr lang="en-US" sz="14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Received</a:t>
                      </a:r>
                      <a:endParaRPr lang="en-US" sz="14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Output E</a:t>
                      </a:r>
                      <a:endParaRPr lang="en-US" sz="14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Result</a:t>
                      </a:r>
                      <a:endParaRPr lang="en-US" sz="14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B1F33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No error</a:t>
                      </a:r>
                      <a:endParaRPr lang="en-US" sz="14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B1F33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1011</a:t>
                      </a:r>
                      <a:endParaRPr lang="en-US" sz="14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B1F33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1</a:t>
                      </a:r>
                      <a:endParaRPr lang="en-US" sz="14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B1F33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10111</a:t>
                      </a:r>
                      <a:endParaRPr lang="en-US" sz="14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B1F33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0</a:t>
                      </a:r>
                      <a:endParaRPr lang="en-US" sz="14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A7F5C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Accepted</a:t>
                      </a:r>
                      <a:endParaRPr lang="en-US" sz="14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7E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B1F33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Data bit D1 flipped</a:t>
                      </a:r>
                      <a:endParaRPr lang="en-US" sz="14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B1F33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1011</a:t>
                      </a:r>
                      <a:endParaRPr lang="en-US" sz="14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B1F33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1</a:t>
                      </a:r>
                      <a:endParaRPr lang="en-US" sz="14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B1F33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10011</a:t>
                      </a:r>
                      <a:endParaRPr lang="en-US" sz="14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B1F33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1</a:t>
                      </a:r>
                      <a:endParaRPr lang="en-US" sz="14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A7F5C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Error detected</a:t>
                      </a:r>
                      <a:endParaRPr lang="en-US" sz="14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7E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B1F33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Parity bit flipped</a:t>
                      </a:r>
                      <a:endParaRPr lang="en-US" sz="14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B1F33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1011</a:t>
                      </a:r>
                      <a:endParaRPr lang="en-US" sz="14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B1F33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1</a:t>
                      </a:r>
                      <a:endParaRPr lang="en-US" sz="14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B1F33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10110</a:t>
                      </a:r>
                      <a:endParaRPr lang="en-US" sz="14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B1F33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1</a:t>
                      </a:r>
                      <a:endParaRPr lang="en-US" sz="14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A7F5C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Error detected</a:t>
                      </a:r>
                      <a:endParaRPr lang="en-US" sz="14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7E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B1F33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Two bits flipped (D1, D0)</a:t>
                      </a:r>
                      <a:endParaRPr lang="en-US" sz="14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B1F33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1011</a:t>
                      </a:r>
                      <a:endParaRPr lang="en-US" sz="14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B1F33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1</a:t>
                      </a:r>
                      <a:endParaRPr lang="en-US" sz="14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B1F33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10001</a:t>
                      </a:r>
                      <a:endParaRPr lang="en-US" sz="14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B1F33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0</a:t>
                      </a:r>
                      <a:endParaRPr lang="en-US" sz="14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B42318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Missed</a:t>
                      </a:r>
                      <a:endParaRPr lang="en-US" sz="14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02336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0B1F33"/>
          </a:solidFill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Parity catches any odd number of flipped bits, but misses an even number.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Limits, Uses and Next Steps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2560320" cy="2651760"/>
          </a:xfrm>
          <a:prstGeom prst="roundRect">
            <a:avLst>
              <a:gd name="adj" fmla="val 3571"/>
            </a:avLst>
          </a:prstGeom>
          <a:solidFill>
            <a:srgbClr val="14304D"/>
          </a:solidFill>
          <a:ln w="12700">
            <a:solidFill>
              <a:srgbClr val="14304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417320"/>
            <a:ext cx="219456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EE6A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Limitations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920240"/>
            <a:ext cx="2194560" cy="19202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Detects only an odd number of flipped bits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Cannot tell which bit is wrong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Cannot correct errors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291840" y="1280160"/>
            <a:ext cx="2560320" cy="2651760"/>
          </a:xfrm>
          <a:prstGeom prst="roundRect">
            <a:avLst>
              <a:gd name="adj" fmla="val 3571"/>
            </a:avLst>
          </a:prstGeom>
          <a:solidFill>
            <a:srgbClr val="14304D"/>
          </a:solidFill>
          <a:ln w="12700">
            <a:solidFill>
              <a:srgbClr val="14304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474720" y="1417320"/>
            <a:ext cx="219456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EE6A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Where it is used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1920240"/>
            <a:ext cx="2194560" cy="19202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Serial links such as UART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Memory and bus checking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Storage systems like RAID use parity ideas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126480" y="1280160"/>
            <a:ext cx="2560320" cy="2651760"/>
          </a:xfrm>
          <a:prstGeom prst="roundRect">
            <a:avLst>
              <a:gd name="adj" fmla="val 3571"/>
            </a:avLst>
          </a:prstGeom>
          <a:solidFill>
            <a:srgbClr val="14304D"/>
          </a:solidFill>
          <a:ln w="12700">
            <a:solidFill>
              <a:srgbClr val="14304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09360" y="1417320"/>
            <a:ext cx="219456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EE6A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Learn next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1920240"/>
            <a:ext cx="2194560" cy="19202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Hamming code: detects and corrects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Checksums and CRC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2-D block parity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4114800"/>
            <a:ext cx="82296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B703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Thank you. Any questions?</a:t>
            </a:r>
            <a:endParaRPr lang="en-US" sz="2800" dirty="0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208.8,&quot;left&quot;:36,&quot;top&quot;:104.4,&quot;width&quot;:648}"/>
</p:tagLst>
</file>

<file path=ppt/tags/tag2.xml><?xml version="1.0" encoding="utf-8"?>
<p:tagLst xmlns:p="http://schemas.openxmlformats.org/presentationml/2006/main">
  <p:tag name="KSO_WM_DIAGRAM_VIRTUALLY_FRAME" val="{&quot;height&quot;:208.8,&quot;left&quot;:36,&quot;top&quot;:104.4,&quot;width&quot;:648}"/>
</p:tagLst>
</file>

<file path=ppt/tags/tag3.xml><?xml version="1.0" encoding="utf-8"?>
<p:tagLst xmlns:p="http://schemas.openxmlformats.org/presentationml/2006/main">
  <p:tag name="KSO_WM_DIAGRAM_VIRTUALLY_FRAME" val="{&quot;height&quot;:208.8,&quot;left&quot;:36,&quot;top&quot;:104.4,&quot;width&quot;:648}"/>
</p:tagLst>
</file>

<file path=ppt/tags/tag4.xml><?xml version="1.0" encoding="utf-8"?>
<p:tagLst xmlns:p="http://schemas.openxmlformats.org/presentationml/2006/main">
  <p:tag name="KSO_WM_DIAGRAM_VIRTUALLY_FRAME" val="{&quot;height&quot;:208.8,&quot;left&quot;:36,&quot;top&quot;:104.4,&quot;width&quot;:648}"/>
</p:tagLst>
</file>

<file path=ppt/tags/tag5.xml><?xml version="1.0" encoding="utf-8"?>
<p:tagLst xmlns:p="http://schemas.openxmlformats.org/presentationml/2006/main">
  <p:tag name="KSO_WM_DIAGRAM_VIRTUALLY_FRAME" val="{&quot;height&quot;:208.8,&quot;left&quot;:36,&quot;top&quot;:104.4,&quot;width&quot;:648}"/>
</p:tagLst>
</file>

<file path=ppt/tags/tag6.xml><?xml version="1.0" encoding="utf-8"?>
<p:tagLst xmlns:p="http://schemas.openxmlformats.org/presentationml/2006/main">
  <p:tag name="KSO_WM_DIAGRAM_VIRTUALLY_FRAME" val="{&quot;height&quot;:208.8,&quot;left&quot;:36,&quot;top&quot;:104.4,&quot;width&quot;:648}"/>
</p:tagLst>
</file>

<file path=ppt/tags/tag7.xml><?xml version="1.0" encoding="utf-8"?>
<p:tagLst xmlns:p="http://schemas.openxmlformats.org/presentationml/2006/main">
  <p:tag name="KSO_WM_DIAGRAM_VIRTUALLY_FRAME" val="{&quot;height&quot;:208.8,&quot;left&quot;:36,&quot;top&quot;:104.4,&quot;width&quot;:648}"/>
</p:tagLst>
</file>

<file path=ppt/tags/tag8.xml><?xml version="1.0" encoding="utf-8"?>
<p:tagLst xmlns:p="http://schemas.openxmlformats.org/presentationml/2006/main">
  <p:tag name="KSO_WM_DIAGRAM_VIRTUALLY_FRAME" val="{&quot;height&quot;:208.8,&quot;left&quot;:36,&quot;top&quot;:104.4,&quot;width&quot;:648}"/>
</p:tagLst>
</file>

<file path=ppt/tags/tag9.xml><?xml version="1.0" encoding="utf-8"?>
<p:tagLst xmlns:p="http://schemas.openxmlformats.org/presentationml/2006/main">
  <p:tag name="KSO_WM_DIAGRAM_VIRTUALLY_FRAME" val="{&quot;height&quot;:208.8,&quot;left&quot;:36,&quot;top&quot;:104.4,&quot;width&quot;:648}"/>
</p:tagLst>
</file>

<file path=ppt/tags/tag10.xml><?xml version="1.0" encoding="utf-8"?>
<p:tagLst xmlns:p="http://schemas.openxmlformats.org/presentationml/2006/main">
  <p:tag name="KSO_WM_DIAGRAM_VIRTUALLY_FRAME" val="{&quot;height&quot;:208.8,&quot;left&quot;:36,&quot;top&quot;:104.4,&quot;width&quot;:648}"/>
</p:tagLst>
</file>

<file path=ppt/tags/tag11.xml><?xml version="1.0" encoding="utf-8"?>
<p:tagLst xmlns:p="http://schemas.openxmlformats.org/presentationml/2006/main">
  <p:tag name="KSO_WM_DIAGRAM_VIRTUALLY_FRAME" val="{&quot;height&quot;:208.8,&quot;left&quot;:36,&quot;top&quot;:104.4,&quot;width&quot;:648}"/>
</p:tagLst>
</file>

<file path=ppt/tags/tag12.xml><?xml version="1.0" encoding="utf-8"?>
<p:tagLst xmlns:p="http://schemas.openxmlformats.org/presentationml/2006/main">
  <p:tag name="KSO_WM_DIAGRAM_VIRTUALLY_FRAME" val="{&quot;height&quot;:208.8,&quot;left&quot;:36,&quot;top&quot;:104.4,&quot;width&quot;:648}"/>
</p:tagLst>
</file>

<file path=ppt/tags/tag13.xml><?xml version="1.0" encoding="utf-8"?>
<p:tagLst xmlns:p="http://schemas.openxmlformats.org/presentationml/2006/main">
  <p:tag name="KSO_WM_DIAGRAM_VIRTUALLY_FRAME" val="{&quot;height&quot;:208.8,&quot;left&quot;:36,&quot;top&quot;:104.4,&quot;width&quot;:648}"/>
</p:tagLst>
</file>

<file path=ppt/tags/tag14.xml><?xml version="1.0" encoding="utf-8"?>
<p:tagLst xmlns:p="http://schemas.openxmlformats.org/presentationml/2006/main">
  <p:tag name="KSO_WM_DIAGRAM_VIRTUALLY_FRAME" val="{&quot;height&quot;:208.8,&quot;left&quot;:36,&quot;top&quot;:104.4,&quot;width&quot;:648}"/>
</p:tagLst>
</file>

<file path=ppt/tags/tag15.xml><?xml version="1.0" encoding="utf-8"?>
<p:tagLst xmlns:p="http://schemas.openxmlformats.org/presentationml/2006/main">
  <p:tag name="KSO_WM_DIAGRAM_VIRTUALLY_FRAME" val="{&quot;height&quot;:208.8,&quot;left&quot;:36,&quot;top&quot;:104.4,&quot;width&quot;:648}"/>
</p:tagLst>
</file>

<file path=ppt/tags/tag16.xml><?xml version="1.0" encoding="utf-8"?>
<p:tagLst xmlns:p="http://schemas.openxmlformats.org/presentationml/2006/main">
  <p:tag name="KSO_WM_DIAGRAM_VIRTUALLY_FRAME" val="{&quot;height&quot;:208.8,&quot;left&quot;:36,&quot;top&quot;:104.4,&quot;width&quot;:648}"/>
</p:tagLst>
</file>

<file path=ppt/tags/tag17.xml><?xml version="1.0" encoding="utf-8"?>
<p:tagLst xmlns:p="http://schemas.openxmlformats.org/presentationml/2006/main">
  <p:tag name="KSO_WM_DIAGRAM_VIRTUALLY_FRAME" val="{&quot;height&quot;:208.8,&quot;left&quot;:36,&quot;top&quot;:104.4,&quot;width&quot;:648}"/>
</p:tagLst>
</file>

<file path=ppt/tags/tag18.xml><?xml version="1.0" encoding="utf-8"?>
<p:tagLst xmlns:p="http://schemas.openxmlformats.org/presentationml/2006/main">
  <p:tag name="KSO_WM_DIAGRAM_VIRTUALLY_FRAME" val="{&quot;height&quot;:208.8,&quot;left&quot;:36,&quot;top&quot;:104.4,&quot;width&quot;:648}"/>
</p:tagLst>
</file>

<file path=ppt/tags/tag19.xml><?xml version="1.0" encoding="utf-8"?>
<p:tagLst xmlns:p="http://schemas.openxmlformats.org/presentationml/2006/main">
  <p:tag name="KSO_WM_DIAGRAM_VIRTUALLY_FRAME" val="{&quot;height&quot;:208.8,&quot;left&quot;:36,&quot;top&quot;:104.4,&quot;width&quot;:648}"/>
</p:tagLst>
</file>

<file path=ppt/tags/tag20.xml><?xml version="1.0" encoding="utf-8"?>
<p:tagLst xmlns:p="http://schemas.openxmlformats.org/presentationml/2006/main">
  <p:tag name="KSO_WM_DIAGRAM_VIRTUALLY_FRAME" val="{&quot;height&quot;:208.8,&quot;left&quot;:36,&quot;top&quot;:104.4,&quot;width&quot;:648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2500</Words>
  <Application>WPS Presentation</Application>
  <PresentationFormat>On-screen Show (16:9)</PresentationFormat>
  <Paragraphs>272</Paragraphs>
  <Slides>9</Slides>
  <Notes>9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9</vt:i4>
      </vt:variant>
    </vt:vector>
  </HeadingPairs>
  <TitlesOfParts>
    <vt:vector size="24" baseType="lpstr">
      <vt:lpstr>Arial</vt:lpstr>
      <vt:lpstr>SimSun</vt:lpstr>
      <vt:lpstr>Wingdings</vt:lpstr>
      <vt:lpstr>Cambria</vt:lpstr>
      <vt:lpstr>Cambria</vt:lpstr>
      <vt:lpstr>Cambria</vt:lpstr>
      <vt:lpstr>Calibri</vt:lpstr>
      <vt:lpstr>Calibri</vt:lpstr>
      <vt:lpstr>Calibri</vt:lpstr>
      <vt:lpstr>Courier New</vt:lpstr>
      <vt:lpstr>Courier New</vt:lpstr>
      <vt:lpstr>Courier New</vt:lpstr>
      <vt:lpstr>Microsoft YaHei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Digital Error Detection System Using Parity</dc:title>
  <dc:creator>PptxGenJS</dc:creator>
  <dc:subject>PptxGenJS Presentation</dc:subject>
  <cp:lastModifiedBy>Yashaswini</cp:lastModifiedBy>
  <cp:revision>2</cp:revision>
  <dcterms:created xsi:type="dcterms:W3CDTF">2026-10-07T20:33:00Z</dcterms:created>
  <dcterms:modified xsi:type="dcterms:W3CDTF">2026-10-07T20:37:56Z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366B201529C04455A589F23463A80377_12</vt:lpwstr>
  </property>
  <property fmtid="{D5CDD505-2E9C-101B-9397-08002B2CF9AE}" pid="3" name="KSOProductBuildVer">
    <vt:lpwstr>2057-12.2.0.23206</vt:lpwstr>
  </property>
</Properties>
</file>