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Digital Error Detection System Using Parity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E6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logic gates and simulated in Logisim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8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446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108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446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3108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446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3108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446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3108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B70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6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data bits + 1 even-parity bit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6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 Team [Team Name]   |   B.Tech 1st Year   |   Digital Logic Design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Meet the Team</a:t>
            </a:r>
            <a:endParaRPr lang="en-US" sz="36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457200" y="132588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4" name="Text 2"/>
          <p:cNvSpPr txBox="1"/>
          <p:nvPr>
            <p:custDataLst>
              <p:tags r:id="rId2"/>
            </p:custDataLst>
          </p:nvPr>
        </p:nvSpPr>
        <p:spPr>
          <a:xfrm>
            <a:off x="1097280" y="1508760"/>
            <a:ext cx="640080" cy="640080"/>
          </a:xfrm>
          <a:prstGeom prst="ellipse">
            <a:avLst/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E6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>
            <p:custDataLst>
              <p:tags r:id="rId3"/>
            </p:custDataLst>
          </p:nvPr>
        </p:nvSpPr>
        <p:spPr>
          <a:xfrm>
            <a:off x="548640" y="23317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6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GUNA</a:t>
            </a:r>
            <a:endParaRPr lang="en-IN" altLang="en-US" sz="1600" b="1" dirty="0">
              <a:solidFill>
                <a:srgbClr val="0B1F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 txBox="1"/>
          <p:nvPr>
            <p:custDataLst>
              <p:tags r:id="rId4"/>
            </p:custDataLst>
          </p:nvPr>
        </p:nvSpPr>
        <p:spPr>
          <a:xfrm>
            <a:off x="548640" y="272491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No: </a:t>
            </a:r>
            <a:r>
              <a:rPr lang="en-IN" alt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2620030324</a:t>
            </a:r>
            <a:endParaRPr lang="en-US" sz="1400" dirty="0"/>
          </a:p>
        </p:txBody>
      </p:sp>
      <p:sp>
        <p:nvSpPr>
          <p:cNvPr id="7" name="Text 5"/>
          <p:cNvSpPr txBox="1"/>
          <p:nvPr>
            <p:custDataLst>
              <p:tags r:id="rId5"/>
            </p:custDataLst>
          </p:nvPr>
        </p:nvSpPr>
        <p:spPr>
          <a:xfrm>
            <a:off x="548640" y="315468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Circuit design</a:t>
            </a:r>
            <a:endParaRPr lang="en-US" sz="1400" dirty="0"/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2560320" y="132588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Text 7"/>
          <p:cNvSpPr txBox="1"/>
          <p:nvPr>
            <p:custDataLst>
              <p:tags r:id="rId7"/>
            </p:custDataLst>
          </p:nvPr>
        </p:nvSpPr>
        <p:spPr>
          <a:xfrm>
            <a:off x="3200400" y="1508760"/>
            <a:ext cx="640080" cy="640080"/>
          </a:xfrm>
          <a:prstGeom prst="ellipse">
            <a:avLst/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E6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>
            <p:custDataLst>
              <p:tags r:id="rId8"/>
            </p:custDataLst>
          </p:nvPr>
        </p:nvSpPr>
        <p:spPr>
          <a:xfrm>
            <a:off x="2651760" y="23317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6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SRIJA</a:t>
            </a:r>
            <a:endParaRPr lang="en-US" sz="1600" dirty="0"/>
          </a:p>
        </p:txBody>
      </p:sp>
      <p:sp>
        <p:nvSpPr>
          <p:cNvPr id="11" name="Text 9"/>
          <p:cNvSpPr txBox="1"/>
          <p:nvPr>
            <p:custDataLst>
              <p:tags r:id="rId9"/>
            </p:custDataLst>
          </p:nvPr>
        </p:nvSpPr>
        <p:spPr>
          <a:xfrm>
            <a:off x="2651760" y="272491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No: </a:t>
            </a:r>
            <a:r>
              <a:rPr lang="en-IN" alt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2620030323</a:t>
            </a:r>
            <a:endParaRPr lang="en-US" sz="1400" dirty="0"/>
          </a:p>
        </p:txBody>
      </p:sp>
      <p:sp>
        <p:nvSpPr>
          <p:cNvPr id="12" name="Text 10"/>
          <p:cNvSpPr txBox="1"/>
          <p:nvPr>
            <p:custDataLst>
              <p:tags r:id="rId10"/>
            </p:custDataLst>
          </p:nvPr>
        </p:nvSpPr>
        <p:spPr>
          <a:xfrm>
            <a:off x="2651760" y="315468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Logisim simulation</a:t>
            </a:r>
            <a:endParaRPr lang="en-US" sz="1400" dirty="0"/>
          </a:p>
        </p:txBody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4663440" y="132588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4" name="Text 12"/>
          <p:cNvSpPr txBox="1"/>
          <p:nvPr>
            <p:custDataLst>
              <p:tags r:id="rId12"/>
            </p:custDataLst>
          </p:nvPr>
        </p:nvSpPr>
        <p:spPr>
          <a:xfrm>
            <a:off x="5303520" y="1508760"/>
            <a:ext cx="640080" cy="640080"/>
          </a:xfrm>
          <a:prstGeom prst="ellipse">
            <a:avLst/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E6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>
            <p:custDataLst>
              <p:tags r:id="rId13"/>
            </p:custDataLst>
          </p:nvPr>
        </p:nvSpPr>
        <p:spPr>
          <a:xfrm>
            <a:off x="4754880" y="23317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6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YASHASWINI</a:t>
            </a:r>
            <a:endParaRPr lang="en-US" sz="1600" dirty="0"/>
          </a:p>
        </p:txBody>
      </p:sp>
      <p:sp>
        <p:nvSpPr>
          <p:cNvPr id="16" name="Text 14"/>
          <p:cNvSpPr txBox="1"/>
          <p:nvPr>
            <p:custDataLst>
              <p:tags r:id="rId14"/>
            </p:custDataLst>
          </p:nvPr>
        </p:nvSpPr>
        <p:spPr>
          <a:xfrm>
            <a:off x="4754880" y="272491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No: </a:t>
            </a:r>
            <a:r>
              <a:rPr lang="en-IN" alt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2620030276</a:t>
            </a:r>
            <a:endParaRPr lang="en-IN" altLang="en-US" sz="1400" dirty="0">
              <a:solidFill>
                <a:srgbClr val="0B1F3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 txBox="1"/>
          <p:nvPr>
            <p:custDataLst>
              <p:tags r:id="rId15"/>
            </p:custDataLst>
          </p:nvPr>
        </p:nvSpPr>
        <p:spPr>
          <a:xfrm>
            <a:off x="4754880" y="315468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and results</a:t>
            </a:r>
            <a:endParaRPr lang="en-US" sz="1400" dirty="0"/>
          </a:p>
        </p:txBody>
      </p:sp>
      <p:sp>
        <p:nvSpPr>
          <p:cNvPr id="18" name="Shape 16"/>
          <p:cNvSpPr/>
          <p:nvPr>
            <p:custDataLst>
              <p:tags r:id="rId16"/>
            </p:custDataLst>
          </p:nvPr>
        </p:nvSpPr>
        <p:spPr>
          <a:xfrm>
            <a:off x="6766560" y="132588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9" name="Text 17"/>
          <p:cNvSpPr txBox="1"/>
          <p:nvPr>
            <p:custDataLst>
              <p:tags r:id="rId17"/>
            </p:custDataLst>
          </p:nvPr>
        </p:nvSpPr>
        <p:spPr>
          <a:xfrm>
            <a:off x="7406640" y="1508760"/>
            <a:ext cx="640080" cy="640080"/>
          </a:xfrm>
          <a:prstGeom prst="ellipse">
            <a:avLst/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E6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>
            <p:custDataLst>
              <p:tags r:id="rId18"/>
            </p:custDataLst>
          </p:nvPr>
        </p:nvSpPr>
        <p:spPr>
          <a:xfrm>
            <a:off x="6858000" y="23317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600" b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AKSHITA</a:t>
            </a:r>
            <a:endParaRPr lang="en-US" sz="1600" dirty="0"/>
          </a:p>
        </p:txBody>
      </p:sp>
      <p:sp>
        <p:nvSpPr>
          <p:cNvPr id="21" name="Text 19"/>
          <p:cNvSpPr txBox="1"/>
          <p:nvPr>
            <p:custDataLst>
              <p:tags r:id="rId19"/>
            </p:custDataLst>
          </p:nvPr>
        </p:nvSpPr>
        <p:spPr>
          <a:xfrm>
            <a:off x="6858000" y="272491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No: </a:t>
            </a:r>
            <a:r>
              <a:rPr lang="en-IN" alt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2620030329</a:t>
            </a:r>
            <a:endParaRPr lang="en-US" sz="1400" dirty="0"/>
          </a:p>
        </p:txBody>
      </p:sp>
      <p:sp>
        <p:nvSpPr>
          <p:cNvPr id="22" name="Text 20"/>
          <p:cNvSpPr txBox="1"/>
          <p:nvPr>
            <p:custDataLst>
              <p:tags r:id="rId20"/>
            </p:custDataLst>
          </p:nvPr>
        </p:nvSpPr>
        <p:spPr>
          <a:xfrm>
            <a:off x="6858000" y="315468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and report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by: [</a:t>
            </a:r>
            <a:r>
              <a:rPr lang="en-IN" alt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Dayarnab</a:t>
            </a:r>
            <a:r>
              <a:rPr 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  |   [</a:t>
            </a:r>
            <a:r>
              <a:rPr lang="en-IN" alt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KLH</a:t>
            </a:r>
            <a:r>
              <a:rPr 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Parity Bit?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Noise can flip a 0 to a 1 while data is sent or stored. A parity bit is one extra bit that makes the number of 1s even or odd, so a single flip can be spotted.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 Parity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1s (data + parity) must be even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B70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9476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1011 has three 1s, so P = 1 makes four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05740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19456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Odd Parity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6517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1s (data + parity) must be odd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B70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79476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1011 has three 1s already, so P = 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Logic Gates We Use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XOR gate  (A ⊕ B)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is 1 only when the inputs differ.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85800" y="2194560"/>
          <a:ext cx="3566160" cy="146304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55448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 = A ⊕ B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379476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 XORs and the result is 1 when the count of 1s is odd. That is the parity.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41732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XNOR gate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87452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XOR followed by NOT. Gives the odd-parity bit.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30632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320040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gate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365760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Inverts a bit. Turns an even-parity bit into an odd-parity bit.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Parity Generator Circuit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77840" cy="2651760"/>
          </a:xfrm>
          <a:prstGeom prst="roundRect">
            <a:avLst>
              <a:gd name="adj" fmla="val 3448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5975"/>
            <a:ext cx="5394960" cy="23801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114800"/>
            <a:ext cx="5577840" cy="548640"/>
          </a:xfrm>
          <a:prstGeom prst="roundRect">
            <a:avLst>
              <a:gd name="adj" fmla="val 16667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= D3 ⊕ D2 ⊕ D1 ⊕ D0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217920" y="1280160"/>
            <a:ext cx="2468880" cy="3383280"/>
          </a:xfrm>
          <a:prstGeom prst="roundRect">
            <a:avLst>
              <a:gd name="adj" fmla="val 370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0" y="1463040"/>
            <a:ext cx="210312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Inputs: 4 data bits D0 to D3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Gates: 3 two-input XOR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P makes the total number of 1s even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odd parity, add a NOT gate on 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Parity Checker Circuit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77840" cy="2651760"/>
          </a:xfrm>
          <a:prstGeom prst="roundRect">
            <a:avLst>
              <a:gd name="adj" fmla="val 3448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4119"/>
            <a:ext cx="5394960" cy="20038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114800"/>
            <a:ext cx="5577840" cy="548640"/>
          </a:xfrm>
          <a:prstGeom prst="roundRect">
            <a:avLst>
              <a:gd name="adj" fmla="val 16667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= D3 ⊕ D2 ⊕ D1 ⊕ D0 ⊕ P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217920" y="1280160"/>
            <a:ext cx="2468880" cy="3383280"/>
          </a:xfrm>
          <a:prstGeom prst="roundRect">
            <a:avLst>
              <a:gd name="adj" fmla="val 370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0" y="1463040"/>
            <a:ext cx="210312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Inputs: received data bits plus the parity bit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Gates: 4 two-input XOR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= 0: no error detected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= 1: error detected, ask for resend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Building It in Logisim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23444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new circuit and name it parity_generator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56816"/>
            <a:ext cx="457200" cy="457200"/>
          </a:xfrm>
          <a:prstGeom prst="ellipse">
            <a:avLst/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11096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four Input pins (D0 to D3) and one Output pin (P)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33472"/>
            <a:ext cx="457200" cy="457200"/>
          </a:xfrm>
          <a:prstGeom prst="ellipse">
            <a:avLst/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87752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 three XOR gates from the Gates folder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10128"/>
            <a:ext cx="457200" cy="457200"/>
          </a:xfrm>
          <a:prstGeom prst="ellipse">
            <a:avLst/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26440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 the gates as a tree, as in the circuit diagram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86784"/>
            <a:ext cx="457200" cy="457200"/>
          </a:xfrm>
          <a:prstGeom prst="ellipse">
            <a:avLst/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941064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the Poke tool to toggle inputs and check 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0720" y="1280160"/>
            <a:ext cx="2926080" cy="3383280"/>
          </a:xfrm>
          <a:prstGeom prst="roundRect">
            <a:avLst>
              <a:gd name="adj" fmla="val 3125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13716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7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 used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1783080"/>
            <a:ext cx="25603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pins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pin or LED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XOR gate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gate (odd parity)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Wiring and Poke tools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47472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B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Tip: a 4-input XOR in Logisim outputs the parity directly.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Simulation: Test Cases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280160"/>
          <a:ext cx="8229600" cy="25146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822960"/>
                <a:gridCol w="1188720"/>
                <a:gridCol w="1005840"/>
                <a:gridCol w="173736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D3–D0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Even P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Received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Output 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Result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error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1011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10111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A7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Accepted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bit D1 flipped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1011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10011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A7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Error detected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Parity bit flipped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1011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10110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A7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Error detected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Two bits flipped (D1, D0)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1011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10001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Missed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B1F33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Parity catches any odd number of flipped bits, but misses an even number.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Limits, Uses and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E6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1945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only an odd number of flipped bits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tell which bit is wrong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correct errors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E6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it is used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20240"/>
            <a:ext cx="21945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Serial links such as UART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and bus checking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systems like RAID use parity ideas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4173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E6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next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20240"/>
            <a:ext cx="21945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Hamming code: detects and corrects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Checksums and CRC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2-D block parity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70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you. Any questions?</a:t>
            </a:r>
            <a:endParaRPr lang="en-US" sz="2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2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3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4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5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6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7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8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9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0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1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2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3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4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5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6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7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8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19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ags/tag20.xml><?xml version="1.0" encoding="utf-8"?>
<p:tagLst xmlns:p="http://schemas.openxmlformats.org/presentationml/2006/main">
  <p:tag name="KSO_WM_DIAGRAM_VIRTUALLY_FRAME" val="{&quot;height&quot;:208.8,&quot;left&quot;:36,&quot;top&quot;:104.4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2499</Words>
  <Application>WPS Presentation</Application>
  <PresentationFormat>On-screen Show (16:9)</PresentationFormat>
  <Paragraphs>272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Error Detection System Using Parity</dc:title>
  <dc:creator>PptxGenJS</dc:creator>
  <dc:subject>PptxGenJS Presentation</dc:subject>
  <cp:lastModifiedBy>Yashaswini</cp:lastModifiedBy>
  <cp:revision>3</cp:revision>
  <dcterms:created xsi:type="dcterms:W3CDTF">2026-10-07T20:33:00Z</dcterms:created>
  <dcterms:modified xsi:type="dcterms:W3CDTF">2026-10-08T06:07:07Z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366B201529C04455A589F23463A80377_12</vt:lpwstr>
  </property>
  <property fmtid="{D5CDD505-2E9C-101B-9397-08002B2CF9AE}" pid="3" name="KSOProductBuildVer">
    <vt:lpwstr>2057-12.2.0.23206</vt:lpwstr>
  </property>
</Properties>
</file>